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109728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109728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109728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109728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685800"/>
            <a:ext cx="4279392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WORKSHOP IGN  •  AGENTS IA GÉOSPATIAUX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6309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Développement Agentique &amp;
Agents IA Géospatiaux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6309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DADCE0"/>
                </a:solidFill>
                <a:latin typeface="Google Sans Flex Normal"/>
                <a:ea typeface="Google Sans Flex Normal"/>
                <a:cs typeface="Google Sans Flex Normal"/>
              </a:rPr>
              <a:t>Google Antigravity  •  Antigravity SDK  •  LangChain4j  •  Google ADK  •  MCP
Propulsés par Gemini 3.8 Flash, LiteRT-LM (Gemma 4) &amp; l'IGN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43400"/>
            <a:ext cx="6309360" cy="1965960"/>
          </a:xfrm>
          <a:prstGeom prst="roundRect">
            <a:avLst>
              <a:gd name="adj" fmla="val 3000"/>
            </a:avLst>
          </a:prstGeom>
          <a:solidFill>
            <a:srgbClr val="282A2E"/>
          </a:solidFill>
          <a:ln w="1905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4453128"/>
            <a:ext cx="91440" cy="1746504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562856"/>
            <a:ext cx="5833872" cy="1563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Guillaume Laforge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FBBC04"/>
                </a:solidFill>
                <a:latin typeface="Google Sans Flex Normal"/>
                <a:ea typeface="Google Sans Flex Normal"/>
                <a:cs typeface="Google Sans Flex Normal"/>
              </a:rPr>
              <a:t>• Developer Advocate </a:t>
            </a:r>
            <a:r>
              <a:rPr sz="1500">
                <a:solidFill>
                  <a:srgbClr val="F8F9FA"/>
                </a:solidFill>
                <a:latin typeface="Google Sans Flex Normal"/>
                <a:ea typeface="Google Sans Flex Normal"/>
                <a:cs typeface="Google Sans Flex Normal"/>
              </a:rPr>
              <a:t>chez Google Cloud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FBBC04"/>
                </a:solidFill>
                <a:latin typeface="Google Sans Flex Normal"/>
                <a:ea typeface="Google Sans Flex Normal"/>
                <a:cs typeface="Google Sans Flex Normal"/>
              </a:rPr>
              <a:t>• Blog : </a:t>
            </a:r>
            <a:r>
              <a:rPr sz="1500">
                <a:solidFill>
                  <a:srgbClr val="F8F9FA"/>
                </a:solidFill>
                <a:latin typeface="Google Sans Flex Normal"/>
                <a:ea typeface="Google Sans Flex Normal"/>
                <a:cs typeface="Google Sans Flex Normal"/>
              </a:rPr>
              <a:t>https://glaforge.dev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FBBC04"/>
                </a:solidFill>
                <a:latin typeface="Google Sans Flex Normal"/>
                <a:ea typeface="Google Sans Flex Normal"/>
                <a:cs typeface="Google Sans Flex Normal"/>
              </a:rPr>
              <a:t>• Decks : </a:t>
            </a:r>
            <a:r>
              <a:rPr sz="1500">
                <a:solidFill>
                  <a:srgbClr val="F8F9FA"/>
                </a:solidFill>
                <a:latin typeface="Google Sans Flex Normal"/>
                <a:ea typeface="Google Sans Flex Normal"/>
                <a:cs typeface="Google Sans Flex Normal"/>
              </a:rPr>
              <a:t>https://speakerdeck.com/glaforge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95744" y="2238043"/>
            <a:ext cx="4583887" cy="2647090"/>
          </a:xfrm>
          <a:prstGeom prst="rect">
            <a:avLst/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p-viewer-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274619"/>
            <a:ext cx="4510735" cy="257393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32320" y="4921709"/>
            <a:ext cx="451073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1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Cockpit Géospatial 3D Temps Réel (Plan IGN V2 + BD TOPO V3)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AGENDA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Plan du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Des fondamentaux agentiques jusqu'aux 5 démonstrations géospatiales en direct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PARTIE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Fondamentaux &amp; Standards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Équation IA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Modèle + Outils + Mémoire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Loop Engineering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Plan → Act → Verify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3 Standards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@Tool, SKILL.md &amp; MCP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0536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80536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73144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73144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Google Antigravity &amp; SDK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4 Surfaces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2.0, IDE, CLI agy &amp; SDK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Autonomie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Subagents, Skills &amp; Hooks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SDK Java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Policies HITL &amp; Vision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2432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2432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05040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5040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LangChain4j &amp; Google ADK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LangChain4j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AiServices &amp; RAG ONNX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MCP Java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Serveur STDIO en 20 lignes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Google ADK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Sequential, Parallel &amp; UI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44328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44328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336936" y="2185416"/>
            <a:ext cx="1664208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4 &amp;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6936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Géoplateforme &amp; 5 Démos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Socle IGN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6 flux data.geopf.fr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4 Actes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ZAN, Crise, VLM &amp; MCP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Souveraineté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LiteRT-LM &amp; Gemma 4 local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9144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9144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9144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91440"/>
            <a:ext cx="201168" cy="676656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PARTIE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6217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Du Modèle (LLM)
au Système Agentique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6035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DADCE0"/>
                </a:solidFill>
                <a:latin typeface="Google Sans Flex Normal"/>
                <a:ea typeface="Google Sans Flex Normal"/>
                <a:cs typeface="Google Sans Flex Normal"/>
              </a:rPr>
              <a:t>Comprendre pourquoi un LLM seul ne suffit pas en géomatique et comment l'équiper d'outils, de savoir-faire et de protocoles ouverts.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0" y="1143000"/>
            <a:ext cx="4389120" cy="4572000"/>
          </a:xfrm>
          <a:prstGeom prst="roundRect">
            <a:avLst>
              <a:gd name="adj" fmla="val 4000"/>
            </a:avLst>
          </a:prstGeom>
          <a:solidFill>
            <a:srgbClr val="282A2E"/>
          </a:solidFill>
          <a:ln w="2286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417320"/>
            <a:ext cx="37490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BBC04"/>
                </a:solidFill>
                <a:latin typeface="Google Sans Flex Rounding"/>
                <a:ea typeface="Google Sans Flex Rounding"/>
                <a:cs typeface="Google Sans Flex Rounding"/>
              </a:rPr>
              <a:t>Dans cette section 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14884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Limites d'un LLM seul sur le terrain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L'équation d'un Agent IA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Du Prompt au Loop Engineering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Tools (@Tool), Skills (SKILL.md) &amp; MCP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2267712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PARTIE 1 • CONSTAT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Pourquoi un LLM Seul Échoue en Géomatique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Un modèle de langage prédit des mots, mais ignore la réalité physique du territoire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1563624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SANS OUTILS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Un LLM isolé hallucine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Coordonnées floues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Incapable de géocoder une adresse au mètre près.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Aucun relief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Ignore l'altitude NGF réelle et la pente du terrain.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Données figées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Ne voit ni la BD ORTHO 20 cm, ni la BD TOPO V3.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8095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8095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40703" y="2185416"/>
            <a:ext cx="2066543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AVEC UN AGENT 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0703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Un Agent connecté vérifie tout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Appels à la source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Interroge en direct la Géoplateforme IGN.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Calculs exacts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Croise RGE ALTI, vecteurs WFS et règlement PLU.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Preuve visuelle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Inspecte l'orthophoto et génère une carte.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2770632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PARTIE 1 •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L'Équation Fondamentale d'un Agent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Les 5 briques essentielles qui transforment Gemini 3.8 Flash en agent opérationnel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1. Modèle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Gemini 3.8 Flash
Raisonnement &amp; Vision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587752" y="2496312"/>
            <a:ext cx="201168" cy="256032"/>
          </a:xfrm>
          <a:prstGeom prst="rightArrow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816352" y="196596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279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2. Outils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@Tool / MCP
APIs &amp; Calculs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855464" y="2496312"/>
            <a:ext cx="201168" cy="256032"/>
          </a:xfrm>
          <a:prstGeom prst="rightArrow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84064" y="196596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279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3. Skills &amp; RAG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Savoir-faire métier
SKILL.md &amp; PLU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123176" y="2496312"/>
            <a:ext cx="201168" cy="256032"/>
          </a:xfrm>
          <a:prstGeom prst="rightArrow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51776" y="196596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4. Mémoire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SessionState
Contexte partagé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390888" y="2496312"/>
            <a:ext cx="201168" cy="256032"/>
          </a:xfrm>
          <a:prstGeom prst="rightArrow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19488" y="196596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279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5. Gouvernance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Policies &amp; Hooks
Validation humaine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611880"/>
            <a:ext cx="11094415" cy="2468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721608"/>
            <a:ext cx="91440" cy="2249424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3831336"/>
            <a:ext cx="10618927" cy="20665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Principe directeur : séparer le raisonnement de l'exécution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Le Modèle décide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Gemini 3.8 Flash analyse la mission et choisit les outils à appeler.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Le Harnais exécute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Le SDK Java invoque les APIs, applique la sécurité et garde l'état.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172968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PARTIE 1 • LOOP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Du Prompt Engineering au « Loop Engineering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La vraie puissance d'un agent réside dans sa boucle fermée d'auto-correction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2023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1. Prompt Engineering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Question unique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Formuler le meilleur prompt possible.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Zéro rétroaction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Aucune correction automatique en cas d'erreur.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9742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9742" y="2075688"/>
            <a:ext cx="91440" cy="3895344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32350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2024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2350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2. Context Engineering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Enrichissement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Injecter les bons extraits RAG et schémas.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Flux linéaire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Pas d'adaptation dynamique aux erreurs d'API.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0844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0844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23452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2025–2026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3452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3. Loop Engineering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Plan → Act → Verify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L'agent agit, observe et se corrige.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Auto-réparation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Lit le schéma XSD si un filtre WFS échoue 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474720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1 • STANDARD #1 :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Les Outils (Function Calling) : Les « Mains » de l'Agent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Permettre à Gemini 3.8 Flash d'invoquer des méthodes Java déterministes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3200400" cy="12344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1. Gemini 3.8 Flash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Émet une intention d'appel :
geocode_address("Saint-Mandé")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886200" y="2441448"/>
            <a:ext cx="548640" cy="274320"/>
          </a:xfrm>
          <a:prstGeom prst="rightArrow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965960"/>
            <a:ext cx="3200400" cy="12344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279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2. SDK Java (Exécution)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Exécute la méthode Java
sur https://data.geopf.fr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909560" y="2441448"/>
            <a:ext cx="548640" cy="274320"/>
          </a:xfrm>
          <a:prstGeom prst="rightArrow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95360" y="1965960"/>
            <a:ext cx="3047695" cy="123444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279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3. Résultat Structuré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Retourne le JSON exact :
lon=2.4243, lat=48.8445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520440"/>
            <a:ext cx="11094415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630168"/>
            <a:ext cx="91440" cy="234086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739896"/>
            <a:ext cx="10618927" cy="2157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Point clé : le LLM n'exécute jamais le code directement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Contrat déclaratif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Vos méthodes Java sont décrites par @Tool, @P et @Schema.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Contrôle côté JVM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Votre application maîtrise les appels réseau, l'audit et la sécurité.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4178808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1 • STANDARD #2 : AGENT SKILLS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Les Agent Skills (`SKILL.md`) : Le « Savoir-Faire » Métier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Un standard ouvert avec chargement progressif (Progressive Disclosure)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2468880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STRUCTURE D'UN SKILL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Un dossier modulaire auto-descriptif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Fichier SKILL.md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En-tête YAML (name + description) et guide Markdown.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Ressources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Peut inclure scripts/, examples/ et references/.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Standard ouvert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Supporté par Antigravity IDE, CLI et SDK Java.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8095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8095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40703" y="2185416"/>
            <a:ext cx="2670048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PROGRESSIVE DISCLOSURE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0703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Économiser 95 % du contexte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1. Au démarrage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Seule la description YAML (~100 octets) est chargée.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2. À l'activation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Le corps du SKILL.md n'est lu qu'en cas de besoin.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Cas IGN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Enseigne les règles CRS:84 vs EPSG:4326 à la demande.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273552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1 • STANDARD #3 : MCP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Model Context Protocol (MCP) : Le « Port USB-C » de l'IA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Découpler les fournisseurs d'outils (Serveurs MCP) des applications clientes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3291840" cy="12344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Clients MCP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Antigravity IDE, Claude,
LangChain4j, Google ADK</a:t>
            </a:r>
          </a:p>
        </p:txBody>
      </p:sp>
      <p:sp>
        <p:nvSpPr>
          <p:cNvPr id="15" name="Left-Right Arrow 14"/>
          <p:cNvSpPr/>
          <p:nvPr/>
        </p:nvSpPr>
        <p:spPr>
          <a:xfrm>
            <a:off x="3977639" y="2441448"/>
            <a:ext cx="1005840" cy="292608"/>
          </a:xfrm>
          <a:prstGeom prst="leftRightArrow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2064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279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Protocole JSON-RPC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Transport STDIO (local)
ou Streamable HTTP</a:t>
            </a:r>
          </a:p>
        </p:txBody>
      </p:sp>
      <p:sp>
        <p:nvSpPr>
          <p:cNvPr id="17" name="Left-Right Arrow 16"/>
          <p:cNvSpPr/>
          <p:nvPr/>
        </p:nvSpPr>
        <p:spPr>
          <a:xfrm>
            <a:off x="7818120" y="2441448"/>
            <a:ext cx="731520" cy="292608"/>
          </a:xfrm>
          <a:prstGeom prst="leftRightArrow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0" y="1965960"/>
            <a:ext cx="2956255" cy="12344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279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Serveurs MCP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ign-geoplateforme (Java)
ign-mcp-carto (Node.js)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520440"/>
            <a:ext cx="11094415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630168"/>
            <a:ext cx="91440" cy="234086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739896"/>
            <a:ext cx="10618927" cy="2157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Pourquoi MCP change la donne pour l'IGN ?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Réutilisabilité universelle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Un seul serveur MCP Géoplateforme sert tous les IDE et agents.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Chaînage inter-serveurs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Combine extraction WFS (Java) et rendu Plan IGN V2 (Node.js).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9144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9144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9144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91440"/>
            <a:ext cx="201168" cy="676656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6217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Google Antigravity &amp;
Antigravity SDK for Java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6035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DADCE0"/>
                </a:solidFill>
                <a:latin typeface="Google Sans Flex Normal"/>
                <a:ea typeface="Google Sans Flex Normal"/>
                <a:cs typeface="Google Sans Flex Normal"/>
              </a:rPr>
              <a:t>L'environnement de développement AI-First de Google et son SDK permettant d'embarquer le moteur Antigravity directement dans vos applications Java.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0" y="1143000"/>
            <a:ext cx="4389120" cy="4572000"/>
          </a:xfrm>
          <a:prstGeom prst="roundRect">
            <a:avLst>
              <a:gd name="adj" fmla="val 4000"/>
            </a:avLst>
          </a:prstGeom>
          <a:solidFill>
            <a:srgbClr val="282A2E"/>
          </a:solidFill>
          <a:ln w="2286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417320"/>
            <a:ext cx="37490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BBC04"/>
                </a:solidFill>
                <a:latin typeface="Google Sans Flex Rounding"/>
                <a:ea typeface="Google Sans Flex Rounding"/>
                <a:cs typeface="Google Sans Flex Rounding"/>
              </a:rPr>
              <a:t>Dans cette section 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14884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Les 4 surfaces de Google Antigravity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Boucle Plan → Act → Verify &amp; Artefacts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Subagents, Skills, MCP, Rules &amp; Hooks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Antigravity SDK for Java : Architecture &amp; API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374136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2 • GOOGLE ANTIGRAVITY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Google Antigravity : 1 Moteur, 4 Surfaces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Du poste de commandement multi-agents jusqu'au SDK embarqué dans votre code Java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SURFACE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Antigravity 2.0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Agent Manager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Pilotez plusieurs agents en parallèle.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Inbox asynchrone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Suivi des tâches longues et validations.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0536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80536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73144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SURFACE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73144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Antigravity IDE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Éditeur AI-First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Diff interactif et widgets Generative UI.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Browser Agent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Contrôle Chrome pour tester vos webapps.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2432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2432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05040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SURFACE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5040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Antigravity CLI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Commande agy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Missions autonomes dans le terminal.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CI/CD &amp; Serveurs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Partage les mêmes Skills et MCP.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44328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44328" y="2075688"/>
            <a:ext cx="91440" cy="3895344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336936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SURFACE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6936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Antigravity SDK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Java &amp; Python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Embarquez localharness dans vos apps.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Focus Acte 3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Détective territorial multimodal.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2871216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2 • BOUCLE FERMÉE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La Boucle Fermée d'Antigravity : Plan → Act → Verify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Antigravity ne s'arrête pas à la génération de code : il vérifie systématiquement son travail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ÉTAPE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PLAN (Concevoir)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Exploration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Analyse le dépôt et charge les Skills.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Plan d'action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Soumet l'Implementation Plan à validation.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9742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9742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32350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ÉTAPE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2350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ACT (Construire)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Édition précise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Modifie le code sur plusieurs fichiers.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Outils &amp; MCP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Exécute Maven, scripts et géoservices.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0844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0844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23452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ÉTAPE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3452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VERIFY (Prouver)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Tests &amp; Browser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Vérifie la compilation et le rendu web.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Walkthrough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Produit un rapport final avec captures.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2468880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2 • AUTONOMIE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Passer à l'Échelle avec les Subagents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Déléguer les tâches d'exploration ou de test à des sous-agents spécialisés au contexte isolé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2167128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RESEARCH SUBAGENT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Exploration Sans Bruit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Lecture seule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Explore des dizaines de fichiers en tâche de fond.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Contexte préservé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Ne renvoie que la synthèse à l'agent parent.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9742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9742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32350" y="2185416"/>
            <a:ext cx="2066543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BROWSER SUBAGENT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2350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Test Web Visuel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Pilote Chrome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Clique, navigue et inspecte le DOM.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Preuve visuelle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Prend des screenshots et lit la console.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0844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0844" y="2075688"/>
            <a:ext cx="91440" cy="3895344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23452" y="2185416"/>
            <a:ext cx="2167128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WORKSPACES ISOLÉS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3452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Parallélisme Sûr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3 modes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inherit, branch (clone) ou share (worktree).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Réveil réactif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Notifie le parent dès la fin du travail.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172968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2 • PERSONNALISATION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Custom Agents, Slash Commands &amp; Agent Skills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Adapter le comportement d'Antigravity aux standards de votre équipe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2267712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RACCOURCIS &amp; RÔLES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Slash Commands &amp; Custom Agents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/plan &amp; /grill-me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Aligner l'architecture avant de coder.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/goal &amp; /boost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Exécution autonome approfondie.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Custom Agents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Profils dédiés (prompt, modèle, outils).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8095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8095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40703" y="2185416"/>
            <a:ext cx="2670048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DÉCOUVERTE AUTOMATIQUE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0703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Hiérarchie des Agent Skills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Workspace (.agents/skills/)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Partagé via Git avec toute l'équipe.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Global (~/.gemini/config/skills/)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Compétences personnelles.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Dans ce projet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ign-geoplateforme est détecté nativement 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2670048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2 • GOUVERNANCE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Contrôle &amp; Sécurité : Rules, Hooks &amp; Plugins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Encadrer l'autonomie de l'agent par des garde-fous déterministes et partageables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1563624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RULES (.MD)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Consignes Permanentes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Priorité absolue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Toujours actives dans le contexte.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Standards d'équipe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Conventions de code et routage.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9742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9742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32350" y="2185416"/>
            <a:ext cx="1965960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LIFECYCLE HOOKS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2350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Interception Déterministe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Pre / Post Tool Call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Inspecte chaque appel d'outil.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Audit &amp; Blocage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Journalise ou bloque une action.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0844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0844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23452" y="2185416"/>
            <a:ext cx="2167128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PLUGINS (/PLUGIN)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3452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Distribution Clé en Main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Bundle complet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Skills + Rules + MCP + Sidecars UI.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Partage en 1 clic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Idéal pour un kit « Géomatique IGN 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575304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2 • ANTIGRAVITY SDK JAVA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Antigravity SDK for Java :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Piloter le véritable moteur Go d'Antigravity (`localharness`) depuis la JVM via WebSockets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3200400" cy="12344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Application Java 21+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Agent.builder() / AgentConfig
Bloc try-with-resources</a:t>
            </a:r>
          </a:p>
        </p:txBody>
      </p:sp>
      <p:sp>
        <p:nvSpPr>
          <p:cNvPr id="15" name="Left-Right Arrow 14"/>
          <p:cNvSpPr/>
          <p:nvPr/>
        </p:nvSpPr>
        <p:spPr>
          <a:xfrm>
            <a:off x="3886200" y="2441448"/>
            <a:ext cx="1005840" cy="292608"/>
          </a:xfrm>
          <a:prstGeom prst="leftRightArrow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0" y="1965960"/>
            <a:ext cx="3017520" cy="123444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279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Binaire Go : localharness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Extrait &amp; lancé automatiquement
Communication WebSockets</a:t>
            </a:r>
          </a:p>
        </p:txBody>
      </p:sp>
      <p:sp>
        <p:nvSpPr>
          <p:cNvPr id="17" name="Left-Right Arrow 16"/>
          <p:cNvSpPr/>
          <p:nvPr/>
        </p:nvSpPr>
        <p:spPr>
          <a:xfrm>
            <a:off x="8183879" y="2441448"/>
            <a:ext cx="731520" cy="292608"/>
          </a:xfrm>
          <a:prstGeom prst="leftRightArrow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052560" y="1965960"/>
            <a:ext cx="2590495" cy="12344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279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Gemini 3.8 Flash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Appels HTTPS Gemini &amp;
callbacks @Tool locaux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520440"/>
            <a:ext cx="11094415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630168"/>
            <a:ext cx="91440" cy="234086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739896"/>
            <a:ext cx="10618927" cy="2157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Pourquoi cette architecture hybride Java + Go ?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Fidélité totale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Même moteur, mêmes Skills et mêmes Policies que l'IDE Antigravity.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AutoCloseable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Le bloc try (...) gère proprement le cycle de vie du processus Go.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575304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2 • ANTIGRAVITY SDK JAVA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Initialiser un Agent &amp; Charger un Skill en 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Une API fluide pour configurer Gemini 3.8 Flash, le prompt système et les dossiers de Skills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649224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649224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Configuration AgentConfig (Antigravity SDK for Java)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608990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Configuration de l'agent avec Gemini 3.8 Flash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AgentConfig config = AgentConfig.builder()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.model("gemini-3.8-flash")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.apiKey(System.getenv("GEMINI_API_KEY"))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.systemPrompt("Tu es un inspecteur territorial IGN.")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.addSkillPath(Path.of(".agents/skills/ign-geoplateforme"))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.build();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Enregistrement des outils Java par réflexion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ToolRegistry tools = new ToolRegistry();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tools.registerToolsFromObject(new GeoplateformeTools());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69480" y="1965960"/>
            <a:ext cx="437083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80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62088" y="2185416"/>
            <a:ext cx="2770632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PONT D'OUTILS UNIVERSEL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2088" y="2606040"/>
            <a:ext cx="389534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Réflexion à 3 Niveaux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1. Interface Tool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Implémentation bas niveau directe.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2. Annotations SDK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@Tool et @Param natifs.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3. Pont LangChain4j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Détecte les @Tool et @P existants 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575304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2 • ANTIGRAVITY SDK JAVA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Streaming Temps Réel : Pensées vs Réponse Finale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Observer en direct le raisonnement interne de Gemini 3.8 Flash avant l'émission de la réponse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649224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649224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Écouteur d'événements (SessionEventListener)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608990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SessionEventListener listener = new SessionEventListener() {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b="1">
                <a:solidFill>
                  <a:srgbClr val="FDD663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@Override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public void onThoughtsDelta(String delta) {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// Flux de réflexion interne (Thinking)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System.out.print(GRAY + delta + RESET);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}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b="1">
                <a:solidFill>
                  <a:srgbClr val="FDD663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@Override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public void onTextDelta(String delta) {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// Flux de la réponse finale destinée à l'utilisateur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System.out.print(delta);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}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};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69480" y="1965960"/>
            <a:ext cx="437083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8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62088" y="2185416"/>
            <a:ext cx="1764792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OBSERVABILITÉ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2088" y="2606040"/>
            <a:ext cx="389534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Transparence du Raisonnement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thoughtsDelta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Trace la planification et la lecture du Skill.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textDelta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Diffuse la réponse finale en continu.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Idéal pour l'UI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Alimente une console ou un cockpit live.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273552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2 • SÉCURITÉ SDK JAVA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Gouvernance : `Policies` &amp; `PreToolCallDecideHook`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Appliquer le principe du moindre privilège et exiger une validation humaine sur les actions critiques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667512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667512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Liste blanche + Validation Humaine (HITL) + Hook d'audit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627278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Policies securityPolicy = Policies.denyAll()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// Lecture autorisée automatiquement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.allowTools("query_bdtopo_buildings", "get_elevation_and_slope")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// Écriture soumise à confirmation de l'opérateur humain !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.askUser("submit_bdtopo_collaborative_report",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   req -&gt; confirmWithHumanOperator(req));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Agent.builder()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.policies(securityPolicy)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.onPreToolCallDecide(ctx -&gt; {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logAudit(ctx.toolName(), ctx.argumentsJson());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return HookDecision.allow();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});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52360" y="1965960"/>
            <a:ext cx="418795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52360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44968" y="2185416"/>
            <a:ext cx="2670048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ZÉRO CONFIANCE AVEUGLE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44968" y="2606040"/>
            <a:ext cx="371246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Sécurité Déterministe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denyAll()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Tout outil non autorisé est bloqué.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askUser()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Exige l'accord humain avant toute écriture.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PreToolCallHook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Journalise et filtre les arguments JSON.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877056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2 • MULTIMODALITÉ &amp; SCHÉMAS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Entrées Multimodales &amp; Sorties Structurées (`Record`)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Envoyer une image aérienne à Gemini 3.8 Flash et récupérer un objet Java fortement typé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667512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667512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AgentInput.Image + responseSchema(Record.class)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627278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1. Définition du contrat de sortie via un Record Java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public record QualificationReport(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String address, int bdTopoBuildingCount,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boolean anomalyDetected, String visualObservations,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String recommendedAction, String confidenceLevel) {}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2. Passage du schéma à l'agent et envoi Texte + Image PNG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try (Agent agent = Agent.builder()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.responseSchema(QualificationReport.class).build()) {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agent.run(session, List.of(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new AgentInput.Text("Compare l'orthophoto et la BD TOPO"),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new AgentInput.Image(orthoPngBytes, "image/png")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), listener);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52360" y="1965960"/>
            <a:ext cx="418795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52360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44968" y="2185416"/>
            <a:ext cx="1865376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INTÉGRATION 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44968" y="2606040"/>
            <a:ext cx="371246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Du Pixel au JSON Typé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AgentInput.Image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Envoie directement la tuile PNG BD ORTHO.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responseSchema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Génère le JSON Schema depuis le Record Java.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9144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9144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9144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91440"/>
            <a:ext cx="201168" cy="676656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6217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LangChain4j &amp;
Google ADK for Java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6035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DADCE0"/>
                </a:solidFill>
                <a:latin typeface="Google Sans Flex Normal"/>
                <a:ea typeface="Google Sans Flex Normal"/>
                <a:cs typeface="Google Sans Flex Normal"/>
              </a:rPr>
              <a:t>Deux frameworks de référence pour le développeur Java : l'approche déclarative de LangChain4j et l'orchestration multi-agents de Google ADK.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0" y="1143000"/>
            <a:ext cx="4389120" cy="4572000"/>
          </a:xfrm>
          <a:prstGeom prst="roundRect">
            <a:avLst>
              <a:gd name="adj" fmla="val 4000"/>
            </a:avLst>
          </a:prstGeom>
          <a:solidFill>
            <a:srgbClr val="282A2E"/>
          </a:solidFill>
          <a:ln w="2286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417320"/>
            <a:ext cx="37490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BBC04"/>
                </a:solidFill>
                <a:latin typeface="Google Sans Flex Rounding"/>
                <a:ea typeface="Google Sans Flex Rounding"/>
                <a:cs typeface="Google Sans Flex Rounding"/>
              </a:rPr>
              <a:t>Dans cette section 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14884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LangChain4j : AiServices &amp; Gemini 3.8 Flash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RAG local en mémoire (ONNX) &amp; Serveur MCP STDIO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Google ADK : LlmAgent, Sequential, Parallel &amp; Loop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SessionState, ADK Dev UI &amp; Comparatif des 3 SDKs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2670048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 • LANGCHAIN4J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LangChain4j : L'Approche Déclarative avec `AiServices`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Définissez une simple interface Java : LangChain4j génère toute la boucle d'orchestration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22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649224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649224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Interface Java déclarative -&gt; Agent IA opérationnel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608990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interface UrbanismCopilot {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b="1">
                <a:solidFill>
                  <a:srgbClr val="FDD663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@SystemMessage("""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Tu es un instructeur d'urbanisme expert IGN.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Vérifie systématiquement le PLU et les données terrain.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""")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String analyzeParcel(String userRequest);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}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UrbanismCopilot copilot = AiServices.builder(UrbanismCopilot.class)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.chatModel(geminiModel)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.chatMemory(MessageWindowChatMemory.withMaxMessages(20))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.contentRetriever(pluRetriever)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.tools(new GeoplateformeTools())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.build();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69480" y="1965960"/>
            <a:ext cx="437083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8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62088" y="2185416"/>
            <a:ext cx="2066543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ZÉRO BOILERPLATE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2088" y="2606040"/>
            <a:ext cx="389534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Ce que gère `AiServices`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Proxy dynamique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Transforme l'interface en agent conversationnel.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Boucle d'outils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Appelle les méthodes @Tool automatiquement.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RAG transparent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Injecte les extraits du PLU à la volée.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575304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 • LANGCHAIN4J + GEMINI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Module `langchain4j-google-genai` &amp; Gemini 3.8 Flash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Tirer parti des signatures de pensée de `gemini-3.8-flash` et gérer proprement les erreurs d'outils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23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649224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649224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Configuration GoogleAiGeminiChatModel (gemini-3.8-flash)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608990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ChatModel model = GoogleAiGeminiChatModel.builder()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.apiKey(System.getenv("GEMINI_API_KEY"))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.modelName("gemini-3.8-flash")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// Indispensable pour les thought_signature de Gemini 3.8 :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.returnThinking(true)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.sendThinking(true)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.build();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AiServices.builder(UrbanismCopilot.class)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.chatModel(model)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.toolArgumentsErrorHandler(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ToolArgumentsErrorHandler.sendExceptionMessageToLlm())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.build();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69480" y="1965960"/>
            <a:ext cx="437083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80" y="2075688"/>
            <a:ext cx="91440" cy="3895344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62088" y="2185416"/>
            <a:ext cx="2066543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GEMINI 3.8 FLASH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2088" y="2606040"/>
            <a:ext cx="389534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2 Réglages Essentiels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Thought Signatures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returnThinking et sendThinking maintiennent le raisonnement multi-étapes.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Error Handlers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Renvoie l'erreur OGC au LLM pour qu'il se corrige.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 • RAG LOCAL ONNX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RAG Local en Mémoire : Zéro Base Externe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Vectoriser un règlement PLU directement dans la JVM grâce au modèle ONNX embarqué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279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1. Document Markdown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plu-saint-mande-extrait.md
Découpé en segments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886200" y="2404872"/>
            <a:ext cx="548640" cy="274320"/>
          </a:xfrm>
          <a:prstGeom prst="rightArrow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965960"/>
            <a:ext cx="3383280" cy="114300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2. Modèle ONNX Local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AllMiniLmL6V2Quantized
Tourne sur CPU dans la JVM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092440" y="2404872"/>
            <a:ext cx="548640" cy="274320"/>
          </a:xfrm>
          <a:prstGeom prst="rightArrow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778240" y="1965960"/>
            <a:ext cx="2864815" cy="114300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279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3. InMemoryEmbeddingStore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Recherche par similarité
cosinus instantanée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94415" cy="27432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337560"/>
            <a:ext cx="11094415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94944" y="34564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564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34564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0160" y="3419856"/>
            <a:ext cx="102714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Indexation RAG locale en 8 lignes de Java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813048"/>
            <a:ext cx="10692079" cy="21762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EmbeddingModel embeddingModel = new AllMiniLmL6V2QuantizedEmbeddingModel();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EmbeddingStore&lt;TextSegment&gt; store = new InMemoryEmbeddingStore&lt;&gt;();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EmbeddingStoreIngestor.builder()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.documentSplitter(DocumentSplitters.recursive(500, 80))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.embeddingModel(embeddingModel).embeddingStore(store)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.build().ingest(pluDocument);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ContentRetriever retriever = EmbeddingStoreContentRetriever.from(store);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172968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 • SERVEUR MCP JAVA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Serveur MCP STDIO « Zero Boilerplate » en 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Exposer n'importe quelle classe annotée `@Tool` comme serveur MCP universel en 20 lignes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658368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658368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IgnGeoplateformeMcpServer.java — Le serveur complet 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618134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public class IgnGeoplateformeMcpServer {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public static void main(String[] args) throws Exception {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// 1. Génère automatiquement tools/list et tools/call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//    à partir des annotations @Tool / @P !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McpServer server = new DefaultMcpServer(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  List.of(new GeoplateformeTools())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// 2. Démarre le transport JSON-RPC sur stdin / stdout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new StdioMcpServerTransport(server);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Thread.currentThread().join();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}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1965960"/>
            <a:ext cx="427939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60920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653528" y="2185416"/>
            <a:ext cx="2066543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RÈGLE D'OR STDIO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53528" y="2606040"/>
            <a:ext cx="380390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Garder `stdout` Propre !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Canal JSON-RPC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stdout est réservé aux messages MCP.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Logs sur stderr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Redirigez SLF4J vers System.err et utilisez mvn -q.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Zéro schéma manuel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Tout est généré depuis @Tool et @P.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47472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 • GOOGLE ADK FOR JAVA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Google ADK (Agent Development Kit) for 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Le framework open-source de Google conçu pour l'orchestration multi-agents déterministe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1865376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POURQUOI ADK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Quand un seul agent ne suffit plus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Spécialisation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Découper un problème complexe en agents experts.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Flux déterministe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Maîtriser l'ordre et le parallélisme d'exécution.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Dev UI intégrée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Inspecter visuellement les événements et l'état.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8095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8095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40703" y="2185416"/>
            <a:ext cx="2569464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BRIQUES FONDAMENTALES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0703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L'Architecture ADK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LlmAgent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Agent piloté par Gemini 3.8 Flash + FunctionTool.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Workflow Agents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SequentialAgent, ParallelAgent et LoopAgent.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Runner &amp; Session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Gère le flux d'événements et le SessionState.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273552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 • ORCHESTRATION ADK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Les 4 Patterns d'Orchestration Multi-Agents d'ADK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Assembler des agents comme des briques Lego pour modéliser des processus métier complexes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27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1664208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1. LLM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Agent Individuel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Raisonnement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Exécute ses outils @Schema.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Sortie d'état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Écrit dans outputKey.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0536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80536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73144" y="2185416"/>
            <a:ext cx="1764792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2. SEQUENTIAL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73144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Pipeline (A → B → C)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Ordre strict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Enchaîne les étapes.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Relais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Passe le SessionState.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2432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2432" y="2075688"/>
            <a:ext cx="91440" cy="3895344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05040" y="2185416"/>
            <a:ext cx="1563624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3. PARALLEL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5040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Concurrent (A ∥ B)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Simultané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Lance N experts en même temps.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Gain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Divise la latence globale.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44328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44328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336936" y="2185416"/>
            <a:ext cx="1764792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4. LOOP &amp; SUB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6936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Boucle &amp; Routage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LoopAgent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Répète jusqu'à validation.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Sub-agents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Délégation dynamique.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47472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 • ÉTAT DE SESSION ADK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Communication Inter-Agents via `SessionState` (`{cle}`)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Un tableau blanc partagé où chaque agent lit les résultats amont et inscrit ses conclusions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28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667512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667512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Passage de relais automatique via outputKey et {variable}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627278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1. L'agent amont écrit dans la clé 'localisation_sinistre'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LlmAgent locator = LlmAgent.builder()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.name("agent-localisation").model("gemini-3.8-flash")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.instruction("Géocode l'adresse du sinistre.")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.tools(FunctionTool.create(geoTools, "geocodeAddress"))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.outputKey("localisation_sinistre")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.build();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2. L'agent aval injecte {localisation_sinistre} dans son prompt !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LlmAgent topo = LlmAgent.builder()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.name("agent-topographe").model("gemini-3.8-flash")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.instruction("Analyse le relief pour : {localisation_sinistre}")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.tools(FunctionTool.create(geoTools, "getElevationAndSlope"))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.outputKey("rapport_topographie")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.build();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52360" y="1965960"/>
            <a:ext cx="418795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52360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44968" y="2185416"/>
            <a:ext cx="2167128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DÉCOUPLAGE PROPRE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44968" y="2606040"/>
            <a:ext cx="371246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Flux de Données Typé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outputKey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Sauvegarde la sortie de l'agent en session.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Template {cle}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Injecte dynamiquement la valeur dans les prompts suivants.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2871216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 • OUTILLAGE ADK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ADK Dev UI &amp; Ouverture de l'Écosystème (Kotlin, MCP, A2A)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Déboguer visuellement vos graphes d'agents et connecter n'importe quel modèle ou serveur MCP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29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2267712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ADK DEV UI (:8080)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Une ligne de code pour tout visualiser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AdkWebServer.start(agent)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Lance l'interface web d'inspection.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Graphe &amp; Timeline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Visualise les branches Sequential et Parallel.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SessionState live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Inspecte les variables créées à chaque étape.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8095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8095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40703" y="2185416"/>
            <a:ext cx="2066543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INTEROPÉRABILITÉ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0703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MCP, LangChain4j, A2A &amp; Kotlin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McpToolset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Connexion native aux serveurs MCP.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Pont LangChain4j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Permet d'utiliser tout modèle LangChain4j.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ADK for Kotlin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DSL Kotlin idiomatique sur https://adk.dev.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2569464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 • COMPARATIF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Quel Framework / SDK Java Choisir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Trois approches complémentaires qui partagent exactement les mêmes outils métier dans ce projet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1563624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LANGCHAIN4J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Simplicité Déclarative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Forces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Interfaces AiServices &amp; RAG ONNX local.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Usage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Copilotes métier &amp; serveurs MCP STDIO.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Workshop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Actes 1 &amp; 4.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9742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9742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32350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GOOGLE ADK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2350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Orchestration Multi-Agents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Forces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Sequential, Parallel, Loop &amp; Dev UI.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Usage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Pipelines coordonnant plusieurs experts.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Workshop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Acte 2 (Crise).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0844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0844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23452" y="2185416"/>
            <a:ext cx="1965960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ANTIGRAVITY SDK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3452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Harnais Autonome Gouverné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Forces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Moteur Go, SKILL.md, Policies HITL &amp; Vision.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Usage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Agents gouvernés avec validation humaine.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Workshop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Acte 3 (Détective).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9144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9144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9144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91440"/>
            <a:ext cx="201168" cy="676656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6217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Architecture Géospatiale
Géoplateforme 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6035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DADCE0"/>
                </a:solidFill>
                <a:latin typeface="Google Sans Flex Normal"/>
                <a:ea typeface="Google Sans Flex Normal"/>
                <a:cs typeface="Google Sans Flex Normal"/>
              </a:rPr>
              <a:t>Connecter nos agents aux flux souverains temps réel de l'IGN (data.geopf.fr) sans clé API grâce à une classe Java unifiée et un Skill métier.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0" y="1143000"/>
            <a:ext cx="4389120" cy="4572000"/>
          </a:xfrm>
          <a:prstGeom prst="roundRect">
            <a:avLst>
              <a:gd name="adj" fmla="val 4000"/>
            </a:avLst>
          </a:prstGeom>
          <a:solidFill>
            <a:srgbClr val="282A2E"/>
          </a:solidFill>
          <a:ln w="2286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417320"/>
            <a:ext cx="37490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BBC04"/>
                </a:solidFill>
                <a:latin typeface="Google Sans Flex Rounding"/>
                <a:ea typeface="Google Sans Flex Rounding"/>
                <a:cs typeface="Google Sans Flex Rounding"/>
              </a:rPr>
              <a:t>Dans cette section 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14884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Les 6 géoservices de la Géoplateforme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Le piège OGC CRS:84 vs EPSG:4326 &amp; SKILL.md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Classe unifiée GeoplateformeTools.java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7 outils métier + 3 outils d'introspection WFS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47472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4 • GÉOPLATEFORME (1/2)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Géoplateforme IGN : Localisation, Relief &amp; Mobilité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Flux REST ouverts et gratuits (`https://data.geopf.fr`) — Aucune clé API requise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32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2066543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1. GÉOCODAGE BAN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Recherche d'Adresses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Endpoint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/geocodage/search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Entrée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Adresse postale libre.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Sortie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WGS84 (lon, lat) &amp; code INSEE.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9742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9742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32350" y="2185416"/>
            <a:ext cx="1563624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2. RGE ALTI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2350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Altimétrie &amp; Pente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Endpoint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/altimetrie/.../elevation.json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Méthode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Sonde 5 points (centre ± 50m).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Sortie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Altitude NGF (m) &amp; pente (%).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0844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0844" y="2075688"/>
            <a:ext cx="91440" cy="3895344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23452" y="2185416"/>
            <a:ext cx="1563624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3. VALHALLA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3452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Calcul d'Isochrones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Endpoint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/navigation/isochrone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Profils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Piéton ou Véhicule.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Sortie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Polygone GeoJSON d'accès.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47472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4 • GÉOPLATEFORME (2/2)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Géoplateforme IGN : Vecteurs WFS, Orthophoto &amp; Plan 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Interroger les objets 3D du territoire, la photographie aérienne 20 cm et le fond souverain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33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2267712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4. WFS 2.0 BD TOPO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Vecteurs 3D &amp; Cadastre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Couches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batiment, cours_d_eau, vegetation, parcelle.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Attributs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Hauteurs, étages et matériaux.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9742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9742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32350" y="2185416"/>
            <a:ext cx="2368296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5. WMS 1.3 BD ORTHO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2350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Photo Aérienne 20 cm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Couche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HR.ORTHOIMAGERY.ORTHOPHOTOS.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Usage IA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Tuile PNG 512×512 pour Gemini Vision.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0844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0844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23452" y="2185416"/>
            <a:ext cx="2368296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6. WMTS PLAN IGN V2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3452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Fond Cartographique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Couche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PLANIGNV2.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Usage IA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Fond officiel pour MCP Carto &amp; Cockpit 3D.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273552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4 • PIÈGE OGC &amp; SKILL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Le Piège Classique OGC : `CRS:84` vs `EPSG:4326`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Pourquoi les LLMs échouent sur les BBOX OGC sans un Agent Skill dédié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34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3172968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LE PIÈGE D'INVERSION D'AXES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Direction l'Océan Indien !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EPSG:4326 (Strict OGC)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Ordre Latitude, Longitude (Y, X).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CRS:84 (Web / GeoJSON)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Ordre Longitude, Latitude (X, Y).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Conséquence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Inverser les deux dans une BBOX WFS renvoie 0 objet.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8095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8095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40703" y="2185416"/>
            <a:ext cx="2670048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LA SOLUTION : SKILL.MD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0703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Encapsuler l'Expertise IGN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Fichier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.agents/skills/ign-geoplateforme/SKILL.md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Règle d'or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Impose SRSNAME=CRS:84 (lon, lat) partout.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Guide WFS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Documente la découverte XSD en 3 étapes.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273552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4 • SOCLE JAVA UNIFIÉ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Une Seule Classe Java pour les 3 SDKs + MCP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`GeoplateformeTools.java` : zéro duplication de code grâce à la double annotation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35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LangChain4j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AiServices.tools()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1691640" y="2971800"/>
            <a:ext cx="274320" cy="237744"/>
          </a:xfrm>
          <a:prstGeom prst="downArrow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83280" y="196596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279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Google ADK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FunctionTool.create()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4526280" y="2971800"/>
            <a:ext cx="274320" cy="237744"/>
          </a:xfrm>
          <a:prstGeom prst="downArrow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0" y="196596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279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Antigravity SDK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ToolRegistry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7360920" y="2971800"/>
            <a:ext cx="274320" cy="237744"/>
          </a:xfrm>
          <a:prstGeom prst="downArrow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52560" y="196596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279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Serveur MCP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DefaultMcpServer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10195560" y="2971800"/>
            <a:ext cx="274320" cy="237744"/>
          </a:xfrm>
          <a:prstGeom prst="downArrow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3246120"/>
            <a:ext cx="11094415" cy="841248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279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fr.ign.workshop.tools.GeoplateformeTools (10 Outils Géospatiaux Unifiés)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Annotés simultanément avec @Tool / @P (LangChain4j) et @Schema (Google ADK)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51960"/>
            <a:ext cx="11094415" cy="1828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251960"/>
            <a:ext cx="11094415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94944" y="4370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7824" y="4370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60704" y="4370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80160" y="4334256"/>
            <a:ext cx="102714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Double annotation sur chaque méthode de GeoplateformeTools.java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727448"/>
            <a:ext cx="10692079" cy="1261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b="1">
                <a:solidFill>
                  <a:srgbClr val="FDD663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@Tool("Extrait les bâtiments BD TOPO V3 (hauteurs, étages) dans un rayon donné")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b="1">
                <a:solidFill>
                  <a:srgbClr val="FDD663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@Schema(name = "query_bdtopo_buildings", description = "Extrait les bâtiments BD TOPO V3")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public String queryBdtopoBuildings(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b="1">
                <a:solidFill>
                  <a:srgbClr val="FDD663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@P("Longitude WGS84") @Schema(name = "lon") double lon,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b="1">
                <a:solidFill>
                  <a:srgbClr val="FDD663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@P("Latitude WGS84")  @Schema(name = "lat") double lat,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b="1">
                <a:solidFill>
                  <a:srgbClr val="FDD663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@P("Rayon en mètres") @Schema(name = "radiusMeters") double radiusMeters) { ... }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877056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4 • CATALOGUE DES 10 OUTILS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7 Outils Métier + 3 Outils d'Introspection WFS Dynamique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Aller au-delà des couches codées en dur en permettant à l'agent d'explorer les 64 couches OGC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36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3273552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7 OUTILS MÉTIER CLÉS EN 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Opérations Immédiates (Actes 1 à 3)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Localisation &amp; Relief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geocode_address, get_elevation_and_slope, compute_isochrone.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Vecteurs BD TOPO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query_bdtopo_buildings, query_bdtopo_environment.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Vision &amp; Action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download_bdortho_aerial_image, submit_bdtopo_collaborative_report.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8095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8095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40703" y="2185416"/>
            <a:ext cx="3273552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3 OUTILS D'INTROSPECTION OGC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0703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Découverte WFS Dynamique (Acte 4)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1. search_wfs_layers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Cherche par mot-clé dans les 64 couches WFS.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2. describe_wfs_layer_schema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Lit le XSD pour trouver le nom des colonnes.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3. query_any_wfs_layer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Exécute un filtre CQL et renvoie wfs_geojson_url.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9144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9144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9144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91440"/>
            <a:ext cx="201168" cy="676656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6217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Les Cas d'Étude IGN
&amp; le Cockpit 3D en 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6035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DADCE0"/>
                </a:solidFill>
                <a:latin typeface="Google Sans Flex Normal"/>
                <a:ea typeface="Google Sans Flex Normal"/>
                <a:cs typeface="Google Sans Flex Normal"/>
              </a:rPr>
              <a:t>5 démonstrations concrètes illustrées par leurs schémas d'architecture, leur code Java, leurs traces d'exécution avec Gemini 3.8 Flash et Gemma 4 via LiteRT-LM.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0" y="1143000"/>
            <a:ext cx="4389120" cy="4572000"/>
          </a:xfrm>
          <a:prstGeom prst="roundRect">
            <a:avLst>
              <a:gd name="adj" fmla="val 4000"/>
            </a:avLst>
          </a:prstGeom>
          <a:solidFill>
            <a:srgbClr val="282A2E"/>
          </a:solidFill>
          <a:ln w="2286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417320"/>
            <a:ext cx="37490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BBC04"/>
                </a:solidFill>
                <a:latin typeface="Google Sans Flex Rounding"/>
                <a:ea typeface="Google Sans Flex Rounding"/>
                <a:cs typeface="Google Sans Flex Rounding"/>
              </a:rPr>
              <a:t>Dans cette section 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14884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Prélude : Portabilité Multi-SDK (Saint-Mandé)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Acte 1 (LangChain4j) : Copilote Urbanisme PLU &amp; ZAN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Acte 2 (Google ADK) : Cellule de Crise Multi-Agents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Acte 3 (Antigravity SDK) : Détective Multimodal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Acte 4 (MCP) : Double Serveur MCP &amp; Découverte WFS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Souveraineté : LiteRT-LM On-Device avec Gemma 4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Cockpit 3D Temps Réel (map-viewer.html)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4078224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PRÉLUDE • _00_TESTGEOPLATEFORMETOOLS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Prélude : Test Temps Réel sur le Siège de l'IGN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Vérifier en une commande la portabilité des 10 outils et la réponse live de `data.geopf.fr`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38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539496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539496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_00_TestGeoplateformeTools.java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499262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GeoplateformeTools tools = new GeoplateformeTools();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1. Enregistrement Antigravity SDK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ToolRegistry agy = new ToolRegistry();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agy.registerToolsFromObject(tools);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2. Enregistrement Google ADK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FunctionTool adk = FunctionTool.create(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tools, "geocodeAddress");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3. Appels live (Place de Jaude, Clermont-Ferrand)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tools.geocodeAddress("Place de Jaude, 63000 Clermont-Ferrand");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tools.getElevationAndSlope(3.0821, 45.7766);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tools.queryBdtopoBuildings(3.0821, 45.7766, 120);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8095" y="1965960"/>
            <a:ext cx="539496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8095" y="1965960"/>
            <a:ext cx="539496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94399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77279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760159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79615" y="2048256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Résultat Console (Clermont-Ferrand — Données Réelles IGN)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9263" y="2441448"/>
            <a:ext cx="499262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1C995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✓ Antigravity SDK : 10 outils enregistrés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1C995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✓ Google ADK      : geocode_address prêt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📍 Géocodage BAN (Place de Jaude) :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lon=3.082062, lat=45.776588 | Lambert-93=(706376, 6519667)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⛰️ Altimétrie RGE ALTI :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Altitude : 387.16 m NGF | Pente : 2.12% (Sud-Ouest)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🏢 WFS BD TOPO V3 (rayon 120m) :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86 bâtiments | Hauteur max: 29.1m (10 étages)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🚶 Isochrone 5 min piéton :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Enveloppe 0.59 km x 0.71 km (13 sommets)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977639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ACTE 1 • ARCHITECTURE (LANGCHAIN4J)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Acte 1 : Le Copilote d'Urbanisme « Text-to-GIS » &amp; ZAN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Croiser automatiquement un règlement PLU local (RAG) avec 5 géoservices IGN temps réel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39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279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1. Projet Soumis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Immeuble R+5 (18 m)
73 Av. de Paris, Saint-Mandé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145536" y="2441448"/>
            <a:ext cx="201168" cy="256032"/>
          </a:xfrm>
          <a:prstGeom prst="rightArrow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8328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2. UrbanismCopilot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LangChain4j AiServices
Gemini 3.8 Flash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80176" y="2441448"/>
            <a:ext cx="201168" cy="256032"/>
          </a:xfrm>
          <a:prstGeom prst="rightArrow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279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3. RAG PLU Local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plu-saint-mande-extrait.md
Plafonds UA/UB &amp; ZAN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14816" y="2441448"/>
            <a:ext cx="201168" cy="256032"/>
          </a:xfrm>
          <a:prstGeom prst="rightArrow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5256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279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4. 5 Outils IGN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Géocodage, Bâti, Végétation,
RGE ALTI &amp; Isochrone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520440"/>
            <a:ext cx="11094415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630168"/>
            <a:ext cx="91440" cy="234086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3739896"/>
            <a:ext cx="10618927" cy="2157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Le défi métier : détecter une subtilité réglementaire invisible sans SIG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Règle PLU (RAG)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Hauteur max de 21 m en Zone UA, mais plafonnée à 15 m à moins de 150 m d'une forêt.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Vérification WFS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L'agent détecte le Bois de Vincennes en BD TOPO et rejette le projet de 18 m !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575304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ACTE 1 • RÉSULTAT D'INSTRUCTION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Acte 1 : Rapport Pré-Opérationnel Généré par Gemini 3.8 Flash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Après 5 appels d'outils autonomes, l'agent identifie la non-conformité de hauteur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40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667512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667512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Sortie Console (_01_LangChain4jUrbanismCopilot.java)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627278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📋 RAPPORT D'INSTRUCTION — 73 AVENUE DE PARIS, SAINT-MANDÉ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1. CONTEXTE BÂTI &amp; TOPOGRAPHIE (BD TOPO V3 &amp; RGE ALTI)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• 51 bâtiments dans un rayon de 100m (hauteur max 28.6m)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• Altitude : 51.99m NGF | Pente : 1.44% (&lt; seuil 3% PLU)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2. CONFORMITÉ PLU &amp; LOI CLIMAT / ZAN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28B82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❌ ALERTE HAUTEUR (LISIÈRE DU BOIS DE VINCENNES) :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Zone arborée détectée à &lt; 150m via query_bdtopo_environment.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Plafond réduit à 15m (R+4) selon l'Art. 2.2 du PLU.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-&gt; Le projet proposé à 18m (R+5) DÉPASSE de 3 mètres !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1C995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✅ GESTION DES EAUX : Pente 1.44% -&gt; Bassin de rétention non requis.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1C995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✅ OBJECTIF ZAN : 51 bâtiments (&gt;15) &amp; 35% pleine terre.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52360" y="1965960"/>
            <a:ext cx="418795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52360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44968" y="2185416"/>
            <a:ext cx="1865376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VALEUR AJOUTÉE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44968" y="2606040"/>
            <a:ext cx="371246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De 2 Heures à 15 Secondes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Zéro hallucination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Chaque mesure provient d'un flux WFS ou RGE ALTI réel.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Texte × SIG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Relie l'article du PLU à la géométrie du Bois de Vincennes.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877056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ACTE 2 • ARCHITECTURE (GOOGLE ADK)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Acte 2 : Cellule de Crise Multi-Agents (Google ADK)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Coordonner 5 agents spécialisés (`SequentialAgent` + `ParallelAgent`) en lisière de Forêt de Fontainebleau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41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2377440" cy="160020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1. agent-localisation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Géocode le sinistre
Écrit dans SessionState :
{localisation_sinistre}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017520" y="2788920"/>
            <a:ext cx="411480" cy="274320"/>
          </a:xfrm>
          <a:prstGeom prst="rightArrow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0440" y="1965960"/>
            <a:ext cx="4937760" cy="2212848"/>
          </a:xfrm>
          <a:prstGeom prst="roundRect">
            <a:avLst>
              <a:gd name="adj" fmla="val 4000"/>
            </a:avLst>
          </a:prstGeom>
          <a:solidFill>
            <a:srgbClr val="FEF7E0"/>
          </a:solidFill>
          <a:ln w="2540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0" y="2020824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2. ParallelAgent (Exécution simultanée des 3 experts)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03320" y="2331720"/>
            <a:ext cx="4572000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79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agent-topographe  →  {rapport_topographie}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03320" y="2935224"/>
            <a:ext cx="4572000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agent-enjeux-bati  →  {rapport_enjeux}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03320" y="3538728"/>
            <a:ext cx="4572000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79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agent-logistique   →  {rapport_logistique}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549640" y="2788920"/>
            <a:ext cx="411480" cy="274320"/>
          </a:xfrm>
          <a:prstGeom prst="rightArrow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52560" y="2148840"/>
            <a:ext cx="2590495" cy="160020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279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3. coordinateur-secours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Fusionne les 4 clés
Rédige le Point de
Situation Préfet / DOS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315968"/>
            <a:ext cx="11094415" cy="17647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425696"/>
            <a:ext cx="91440" cy="154533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4535424"/>
            <a:ext cx="10618927" cy="1362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Pourquoi ce graphe d'orchestration est optimal en situation d'urgence ?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Latence divisée par 3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Topographie, bâti et isochrones sont calculés simultanément en parallèle.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47472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ACTE 2 • CODE &amp; RÉSULTAT (ADK)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Acte 2 : Assemblage du Pipeline &amp; Synthèse 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Un code déclaratif concis et une synthèse opérationnelle structurée pour les secours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42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539496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539496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_02_AdkMultiAgentCrisisSimulation.java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499262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1. Regroupement des 3 experts en parallèle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ParallelAgent collecteTerritoriale = ParallelAgent.builder()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.name("collecte-territoriale-parallele")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.subAgents(agentTopographe, agentEnjeuxBati, agentLogistique)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.build();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2. Pipeline séquentiel complet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SequentialAgent crisisPipeline = SequentialAgent.builder()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.name("cellule-crise-ign")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.subAgents(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agentLocalisation,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collecteTerritoriale,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agentCoordinateur)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.build();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8095" y="1965960"/>
            <a:ext cx="539496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8095" y="1965960"/>
            <a:ext cx="539496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94399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77279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760159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79615" y="2048256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Synthèse DOS Générée (Lisière Forêt de Fontainebleau)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9263" y="2441448"/>
            <a:ext cx="499262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28B82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🚨 POINT DE SITUATION — FORÊT DE FONTAINEBLEAU (77300)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📍 Boulevard Magenta : lon=2.6951, lat=48.4002 (INSEE 77186)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⛰️ TOPOGRAPHIE &amp; HYDRO (RGE ALTI) :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• Altitude 75.91m NGF | Pente 1.13% (Nord-Ouest -&gt; Sud-Est)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• Propagation thermique vers le Nord-Ouest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🏢 ENJEUX BÂTIS &amp; FORÊT (BD TOPO V3) :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• 48 bâtiments exposés (25 résidentiels, max 16.5m / R+5)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• Contact direct massif forestier &amp; 6 cours d'eau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🚒 LOGISTIQUE &amp; DÉCISION DOS (Isochrone 5 min) :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• Ligne d'arrêt lisière forestière &amp; protection bâti Nord-Ouest.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4379976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ACTE 3 • ARCHITECTURE (ANTIGRAVITY SDK)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Acte 3 : Le Détective Territorial Multimodal &amp; Gouverné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Réconcilier l'orthophotographie aérienne 20 cm et les vecteurs BD TOPO sous contrôle humain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43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279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1. Tuile WMS BD ORTHO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Image PNG 512×512
AgentInput.Image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145536" y="2441448"/>
            <a:ext cx="201168" cy="256032"/>
          </a:xfrm>
          <a:prstGeom prst="rightArrow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8328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2. Vecteurs BD TOPO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Bâti + Altimétrie
Liste blanche Policies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80176" y="2441448"/>
            <a:ext cx="201168" cy="256032"/>
          </a:xfrm>
          <a:prstGeom prst="rightArrow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279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3. Gouvernance HITL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PreToolCallDecideHook
+ Policies.askUser()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14816" y="2441448"/>
            <a:ext cx="201168" cy="256032"/>
          </a:xfrm>
          <a:prstGeom prst="rightArrow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5256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279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4. Sortie Typée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QualificationReport
Record Java validé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520440"/>
            <a:ext cx="11094415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630168"/>
            <a:ext cx="91440" cy="234086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3739896"/>
            <a:ext cx="10618927" cy="2157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Cas d'usage IGN : assister la mise à jour de la BD TOPO par Vision IA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Vision × Vecteur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Gemini 3.8 Flash compare l'orthophoto 20 cm avec les emprises bâties du WFS.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Validation humaine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Policies.askUser bloque l'envoi du signalement jusqu'à l'accord de l'opérateur.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977639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ACTE 3 • VISION &amp; RAPPORT STRUCTURÉ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Acte 3 : Tuile BD ORTHO Inspectée &amp; Rapport Final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L'agent analyse l'orthophoto 512×512, obtient l'accord humain et produit le Record JSON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44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" y="1929384"/>
            <a:ext cx="3858768" cy="3858768"/>
          </a:xfrm>
          <a:prstGeom prst="rect">
            <a:avLst/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d_ortho_t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965960"/>
            <a:ext cx="3785616" cy="37856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82472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1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Tuile WMS BD ORTHO 20 cm (512×512 px) — Saint-Mandé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92040" y="1965960"/>
            <a:ext cx="6748272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92040" y="1965960"/>
            <a:ext cx="6748272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0383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212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4041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23560" y="2048256"/>
            <a:ext cx="59253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Trace d'Audit &amp; Sortie QualificationReport (_03_AntigravityDetectiveAgent)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93208" y="2441448"/>
            <a:ext cx="6345936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🔍 [AUDIT HOOK] Autorisé : query_bdtopo_buildings(r=80m) -&gt; 19 bâtiments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🔍 [AUDIT HOOK] Autorisé : get_elevation_and_slope -&gt; 48.45m NGF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28B82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⚠️ [POLICIES.ASK_USER] Confirmation requise pour :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submit_bdtopo_collaborative_report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1C995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-&gt; Approbation opérateur accordée ✓ (#IGN-COLLAB-94067)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1C995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✅ [SORTIE STRUCTURÉE — QualificationReport] :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{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"address": "73 Avenue de Paris, 94160 Saint-Mandé",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"bdTopoBuildingCount": 19,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"anomalyDetected": true,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"visualObservations": "Verrière et structure légère en cour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         intérieure visibles sur la BD ORTHO",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"recommendedAction": "Mise à jour mineure soumise à l'IGN",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"confidenceLevel": "HIGH"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675887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ACTE 4 • ARCHITECTURE DOUBLE MCP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Acte 4 : Chaînage de 2 Serveurs MCP &amp; Découverte WFS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Connecter notre serveur Java (`ign-geoplateforme`) au serveur cartographique (`ign-mcp-carto`)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45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1. search_wfs_layers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Serveur MCP #1 (Java)
Découvre les couches
dans GetCapabilities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145536" y="2441448"/>
            <a:ext cx="201168" cy="256032"/>
          </a:xfrm>
          <a:prstGeom prst="rightArrow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8328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279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2. describe_wfs_schema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Serveur MCP #1 (Java)
Lit le XSD : trouve
geom, numero, section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80176" y="2441448"/>
            <a:ext cx="201168" cy="256032"/>
          </a:xfrm>
          <a:prstGeom prst="rightArrow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279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3. query_any_wfs_layer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Serveur MCP #1 (Java)
Exécute le filtre CQL et
crée wfs_geojson_url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14816" y="2441448"/>
            <a:ext cx="201168" cy="256032"/>
          </a:xfrm>
          <a:prstGeom prst="rightArrow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5256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279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4. show_plan_ign_map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Serveur MCP #2 (Node)
Superpose le GeoJSON
sur Plan IGN V2 (PNG)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520440"/>
            <a:ext cx="11094415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630168"/>
            <a:ext cx="91440" cy="234086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3739896"/>
            <a:ext cx="10618927" cy="2157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Le pont inter-serveurs : `wfs_geojson_url`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Passage par URL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Le serveur Java renvoie l'URL GeoJSON WFS que l'agent transmet au serveur Carto.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Auto-découverte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L'agent explore les 64 couches WFS (cadastre, communes) sans code spécifique !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977639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ACTE 4 • RÉSULTAT CARTOGRAPHIQUE #1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Carte Générée par MCP : Lyon 1er (Plan IGN V2)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Superposition automatique du bâti BD TOPO V3 sur le fond souverain Plan IGN V2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46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2302" y="1929384"/>
            <a:ext cx="6267796" cy="3858768"/>
          </a:xfrm>
          <a:prstGeom prst="rect">
            <a:avLst/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arte_rue_du_bat_d_argent_lyon_plan_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878" y="1965960"/>
            <a:ext cx="6194644" cy="37856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824728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1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docs/images/carte_rue_du_bat_d_argent_lyon_plan_ign.png — 10 rue du Bât-d'Argent, Lyon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52360" y="1965960"/>
            <a:ext cx="418795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52360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44968" y="2185416"/>
            <a:ext cx="246888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CHAÎNAGE AUTOMATIQUE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44968" y="2606040"/>
            <a:ext cx="371246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Étapes exécutées par l'Agent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1. Géocodage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10 rue du Bât-d'Argent (lon=4.8352, lat=45.7660).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2. Extraction WFS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Emprises bâties dans un rayon de 120 m.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3. Rendu Carto MCP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Appel de show_plan_ign_map et export PNG.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977639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ACTE 4 • RÉSULTAT CARTOGRAPHIQUE #2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Introspection Cadastrale Dynamique : Toulouse (Haute-Garonne)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L'agent découvre la couche `PARCELLAIRE-EXPRESS:parcelle`, lit son XSD et affiche les parcelles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47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2302" y="1929384"/>
            <a:ext cx="6267796" cy="3858768"/>
          </a:xfrm>
          <a:prstGeom prst="rect">
            <a:avLst/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arte_rue_du_taur_toulouse_plan_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878" y="1965960"/>
            <a:ext cx="6194644" cy="37856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824728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1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docs/images/carte_rue_du_taur_toulouse_plan_ign.png — Section cadastrale AD, Toulouse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52360" y="1965960"/>
            <a:ext cx="418795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52360" y="2075688"/>
            <a:ext cx="91440" cy="3895344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44968" y="2185416"/>
            <a:ext cx="1865376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DÉCOUVERTE XSD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44968" y="2606040"/>
            <a:ext cx="371246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Sans Aucun Code Spécifique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1. search_wfs_layers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Trouve PARCELLAIRE-EXPRESS:parcelle.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2. describe_wfs_schema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Identifie la colonne géométrique geom.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3. Rendu Cadastral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Superpose les parcelles sur Plan IGN V2.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4379976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ACTE 4 • SOUVERAINETÉ &amp; MODÈLES OUVERTS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Souveraineté : Inférence On-Device avec LiteRT-LM &amp; Gemma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Exécuter l'agent et ses outils MCP 100 % en local avec le modèle open weights `gemma4-e2b`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48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621792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621792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_04_McpGeoplateformeDemo.java (--litert avec gemma4-e2b)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581558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Mode souverain 100% local On-Device via LiteRT-LM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if (useLiteRT) {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String modelName = "gemma4-e2b"; // Modèle open weights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LiteRTAgentConfig litertConfig = LiteRTAgentConfig.builder()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.modelName(modelName)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.port(9379)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.backend(LiteRTAgentConfig.Backend.GPU) // GPU Metal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.lightweight()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.build();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// Configuration de l'agent pointant sur le serveur local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configBuilder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.modelName(litertConfig.getAgentConfig().getModelName())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.baseUrl(litertConfig.getBaseUrl());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95160" y="1965960"/>
            <a:ext cx="464515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87768" y="2185416"/>
            <a:ext cx="2368296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SOUVERAINETÉ TOTALE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87768" y="2606040"/>
            <a:ext cx="416966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Zéro Dépendance Cloud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Modèle Open Weights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Gemma 4 (`gemma4-e2b`) s'exécute directement sur GPU local via LiteRT-LM.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Aucun appel d'inférence externe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Les données sensibles du territoire et les requêtes ne quittent jamais votre infrastructure.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Mêmes outils MCP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L'agent local pilote exactement les mêmes serveurs MCP STDIO (WFS et Plan IGN V2).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Commande d'exécution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mvn exec:java -Dexec.mainClass=..._04_... -Dexec.args="--litert"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776472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COCKPIT 3D • MAPLIBRE GL JS (1/3)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Cockpit Géospatial 3D Temps Réel : Plan IGN V2 &amp; Bâti 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Chaque appel à `GeoplateformeTools` met à jour la carte 3D en direct (`target/map-data/latest-state.json`)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49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9705" y="1929384"/>
            <a:ext cx="6707309" cy="3858768"/>
          </a:xfrm>
          <a:prstGeom prst="rect">
            <a:avLst/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p-viewer-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81" y="1965960"/>
            <a:ext cx="6634157" cy="37856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824728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1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web/map-viewer.html — Plan IGN V2 + Extrusion 3D BD TOPO V3 + Isochrone Valhalla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1965960"/>
            <a:ext cx="391363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26679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19287" y="2185416"/>
            <a:ext cx="2468880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SYNCHRONISATION LIVE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9287" y="2606040"/>
            <a:ext cx="343814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Caméra Pilotée par l'Agent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Polling (1,5 s)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Animation flyTo dès qu'un outil est appelé avec une nouvelle adresse ou coordonnée.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Extrusion 3D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Hauteur réelle issue de BDTOPO_V3:batiment.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Isochrone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Polygone Valhalla et pente RGE ALTI.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776472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COCKPIT 3D • MAPLIBRE GL JS (2/3)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Cockpit 3D : Orthophotographie 20 cm &amp; Cadastre PCI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Basculer instantanément entre le Plan IGN V2, la BD ORTHO aérienne et le Parcellaire Express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9705" y="1929384"/>
            <a:ext cx="6707309" cy="3858768"/>
          </a:xfrm>
          <a:prstGeom prst="rect">
            <a:avLst/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p-viewer-ortho-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81" y="1965960"/>
            <a:ext cx="6634157" cy="37856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824728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1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map-viewer.html — Fond WMS BD ORTHO 20 cm + Surcouche Cadastrale PCI + Bâti 3D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1965960"/>
            <a:ext cx="391363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26679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19287" y="2185416"/>
            <a:ext cx="2167128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MULTI-COUCHES 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9287" y="2606040"/>
            <a:ext cx="343814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3 Flux WMTS / WMS Intégrés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Plan IGN V2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Lisibilité topographique optimale.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BD ORTHO 20 cm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Inspection visuelle des toitures et jardins.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Cadastre PCI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Limites parcellaires superposables en 1 clic.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776472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COCKPIT 3D • MAPLIBRE GL JS (3/3)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Cockpit 3D : Modale d'Inspection Multimodale (VLM)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Comparer côte à côte la tuile aérienne envoyée à Gemini 3.8 Flash et les métriques BD TOPO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51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9705" y="1929384"/>
            <a:ext cx="6707309" cy="3858768"/>
          </a:xfrm>
          <a:prstGeom prst="rect">
            <a:avLst/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p-viewer-modal-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81" y="1965960"/>
            <a:ext cx="6634157" cy="37856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824728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1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map-viewer.html — Inspection Multimodale BD ORTHO 512×512 × Métriques BD TOPO V3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1965960"/>
            <a:ext cx="391363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26679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19287" y="2185416"/>
            <a:ext cx="2066543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EXPLICABILITÉ 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9287" y="2606040"/>
            <a:ext cx="343814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Voir ce que « Voit » l'Agent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Preuve visuelle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Tuile exacte analysée par Gemini à l'Acte 3.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Métriques WFS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Nombre de bâtiments, hauteur max et pente.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Décision humaine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Facilite la validation des signalements IGN.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2770632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CONCLUSION &amp; RESSOURCES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Récapitulatif &amp; Liens pour Aller Plus Loin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Toutes les présentations, articles et documentations utilisés dans ce workshop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52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1563624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SPEAKERDECK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Présentations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Profil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speakerdeck.com/glaforge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Sujets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Antigravity, SDK Java &amp; ADK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0536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80536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73144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ARTICLES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73144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Blog glaforge.dev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LangChain4j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/tags/langchain4j/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ADK &amp; AGY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/tags/antigravity/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2432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2432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05040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DOCS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5040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Documentation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Google ADK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https://adk.dev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Géoplateforme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https://cartes.gouv.fr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44328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44328" y="2075688"/>
            <a:ext cx="91440" cy="3895344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336936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SYNTHÈSE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6936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À Retenir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1 Socle Java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GeoplateformeTools.java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Cloud &amp; Local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Gemini 3.8 &amp; Gemma 4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Souveraineté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LiteRT-LM 100% on-device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Google Sans Flex Rounding"/>
        <a:ea typeface="Google Sans Flex Rounding"/>
        <a:cs typeface="Google Sans Flex Rounding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oogle Sans Flex Normal"/>
        <a:ea typeface="Google Sans Flex Normal"/>
        <a:cs typeface="Google Sans Flex Norm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